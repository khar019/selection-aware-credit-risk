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 AUC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93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Logistic Reg.</c:v>
                  </c:pt>
                  <c:pt idx="1">
                    <c:v>XGBoost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0.713</c:v>
                </c:pt>
                <c:pt idx="1">
                  <c:v>0.7725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Validation AUC</c:v>
                </c:pt>
              </c:strCache>
            </c:strRef>
          </c:tx>
          <c:spPr>
            <a:solidFill>
              <a:srgbClr val="E4572E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93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Logistic Reg.</c:v>
                  </c:pt>
                  <c:pt idx="1">
                    <c:v>XGBoost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0.7445</c:v>
                </c:pt>
                <c:pt idx="1">
                  <c:v>0.756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900" u="none">
                  <a:solidFill>
                    <a:srgbClr val="1F293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93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"/>
          <c:min val="0.6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F2937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MACHINE LEARNING  ·  FINAL PROJECT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did we leave out?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219456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Selection-aware credit risk modeling with reject inference, survival analysis, and fairness diagnostics.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200400"/>
            <a:ext cx="914400" cy="36576"/>
          </a:xfrm>
          <a:prstGeom prst="rec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383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Harelle Keli  ·  Michael Beyer  ·  Aryan Sanan  ·  Lacy Dove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794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McCombs School of Business  ·  The University of Texas at Austin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406640" y="118872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0" b="1" dirty="0">
                <a:solidFill>
                  <a:srgbClr val="E45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8000" dirty="0"/>
          </a:p>
        </p:txBody>
      </p:sp>
      <p:sp>
        <p:nvSpPr>
          <p:cNvPr id="9" name="Text 7"/>
          <p:cNvSpPr/>
          <p:nvPr/>
        </p:nvSpPr>
        <p:spPr>
          <a:xfrm>
            <a:off x="7132320" y="21488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 of analysis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Credit models see only half the story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51206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production credit model is trained on approved applicants — because that's the only population where outcomes are observed.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lending decisions extend to everyone, including the people the model never saw. Its probabilities are conditional on approval, not on borrowing.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used the 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Credit Default Risk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dataset — 307,511 loan applications from Kaggle. Since rejected-applicant outcomes aren't published, we built a 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approval filter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from five observable risk factors — external score, DTI, age, housing, income stability — calibrated to real-world consumer lending approval rates (60–80%).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0" y="1417320"/>
            <a:ext cx="2743200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0" y="1417320"/>
            <a:ext cx="54864" cy="1005840"/>
          </a:xfrm>
          <a:prstGeom prst="rec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0" y="15087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63.5%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126480" y="203911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rate under our filter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43600" y="2606040"/>
            <a:ext cx="2743200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0" y="2606040"/>
            <a:ext cx="54864" cy="1005840"/>
          </a:xfrm>
          <a:prstGeom prst="rec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0" y="26974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5.1%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126480" y="322783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rate — approved group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0" y="3794760"/>
            <a:ext cx="2743200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0" y="3794760"/>
            <a:ext cx="54864" cy="1005840"/>
          </a:xfrm>
          <a:prstGeom prst="rec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38862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13.3%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126480" y="441655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rate — rejected group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gap — 5.1% vs 13.3% — is the selection distortion we measure and correct.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 ·  BASELINE MODELS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Selection bias hurts calibration, not ranking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452360" y="201168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2C5F7C"/>
          </a:solidFill>
          <a:ln w="12700">
            <a:solidFill>
              <a:srgbClr val="2C5F7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52360" y="20116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Harelle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4937760" cy="2560320"/>
        </p:xfrm>
        <a:graphic>
          <a:graphicData uri="http://schemas.openxmlformats.org/drawingml/2006/table">
            <a:tbl>
              <a:tblPr/>
              <a:tblGrid>
                <a:gridCol w="1554480"/>
                <a:gridCol w="1554480"/>
                <a:gridCol w="914400"/>
                <a:gridCol w="91440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Tested 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0.7032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C5F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0.0018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0.7114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E45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0.0057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0.7214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C5F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0.0024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0.7281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E45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0.0063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715000" y="1463040"/>
            <a:ext cx="2971800" cy="2743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715000" y="1463040"/>
            <a:ext cx="73152" cy="2743200"/>
          </a:xfrm>
          <a:prstGeom prst="rec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897880" y="15544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story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897880" y="1920240"/>
            <a:ext cx="2788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barely moves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populations — ranking holds up.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ECE roughly triples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rejected applicants — calibration doesn't.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can rank borrowers correctly while being systematically wrong about </a:t>
            </a:r>
            <a:pPr indent="0" marL="0"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risky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they actually are.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bias is a calibration problem, not a discrimination problem — a thread that runs through every phase.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 ·  BIAS–VARIANCE OPTIMIZATION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Simple models are more robust under population shift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452360" y="201168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2C5F7C"/>
          </a:solidFill>
          <a:ln w="12700">
            <a:solidFill>
              <a:srgbClr val="2C5F7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52360" y="20116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Harelle</a:t>
            </a:r>
            <a:endParaRPr lang="en-US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463040"/>
          <a:ext cx="502920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715000" y="1463040"/>
            <a:ext cx="2971800" cy="1417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715000" y="1463040"/>
            <a:ext cx="73152" cy="1417320"/>
          </a:xfrm>
          <a:prstGeom prst="rect">
            <a:avLst/>
          </a:prstGeom>
          <a:solidFill>
            <a:srgbClr val="2C5F7C"/>
          </a:solidFill>
          <a:ln w="12700">
            <a:solidFill>
              <a:srgbClr val="2C5F7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897880" y="153619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−0.0315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269480" y="15727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897880" y="19202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overfitting gap — val AUC beats train AUC because its simplicity prevents memorizing approval-specific patterns that fail on rejected applicants.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715000" y="3017520"/>
            <a:ext cx="2971800" cy="1417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715000" y="3017520"/>
            <a:ext cx="73152" cy="1417320"/>
          </a:xfrm>
          <a:prstGeom prst="rec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897880" y="309067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45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+0.0165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7269480" y="3127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897880" y="347472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Modest, well-controlled gap. Depth=4 is the sweet spot; deeper trees widen the gap without improving validation AUC.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LR's underfitting is partially self-correcting under selection bias — bias is a stability property, not just a limitation.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 ·  REJECT INFERENCE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philosophies, three different answers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452360" y="201168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52360" y="20116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Michael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26517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17320"/>
            <a:ext cx="2651760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60020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0080" y="19659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Parcelling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40080" y="22860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standard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606040"/>
            <a:ext cx="2331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into risk bands, impute default labels from observed rates × 1.2× adjustment. Assumption-heavy; the 1.2× factor is unverifiable.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46120" y="1417320"/>
            <a:ext cx="26517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46120" y="1417320"/>
            <a:ext cx="2651760" cy="73152"/>
          </a:xfrm>
          <a:prstGeom prst="rect">
            <a:avLst/>
          </a:prstGeom>
          <a:solidFill>
            <a:srgbClr val="2C5F7C"/>
          </a:solidFill>
          <a:ln w="12700">
            <a:solidFill>
              <a:srgbClr val="2C5F7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29000" y="160020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5F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429000" y="19659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 Reclassification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3429000" y="22860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C5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Iterative, weighted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429000" y="2606040"/>
            <a:ext cx="2331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rejected applicant becomes two weighted rows — one labeled default, one not. Converges toward the true population structure.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35040" y="1417320"/>
            <a:ext cx="26517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35040" y="1417320"/>
            <a:ext cx="2651760" cy="73152"/>
          </a:xfrm>
          <a:prstGeom prst="rec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0" y="160020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45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217920" y="19659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IPW Reweighting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217920" y="22860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imputation at all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217920" y="2606040"/>
            <a:ext cx="2331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guesses labels. Upweights approved applicants who look like they could have been rejected. Clean assumptions; ESS drops to 36.8%.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069080"/>
            <a:ext cx="8229600" cy="777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4069080"/>
            <a:ext cx="73152" cy="777240"/>
          </a:xfrm>
          <a:prstGeom prst="rec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4133088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finding: </a:t>
            </a:r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 three corrections improved </a:t>
            </a:r>
            <a:pPr indent="0" marL="0">
              <a:buNone/>
            </a:pPr>
            <a:r>
              <a:rPr lang="en-US" sz="11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discrimination </a:t>
            </a:r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meaningfully (ΔAUC &lt; 0.003). </a:t>
            </a:r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achieved the best calibration (ECE 0.0027)</a:t>
            </a:r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IPW the best rejected-population AUC. Parcelling was the weakest on both — its fixed 1.2× adjustment overshoots.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 ·  RESULTS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the approval filter is observable, RI has little room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452360" y="201168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52360" y="20116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Michael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5212080" cy="2743200"/>
        </p:xfrm>
        <a:graphic>
          <a:graphicData uri="http://schemas.openxmlformats.org/drawingml/2006/table">
            <a:tbl>
              <a:tblPr/>
              <a:tblGrid>
                <a:gridCol w="1188720"/>
                <a:gridCol w="1005840"/>
                <a:gridCol w="1005840"/>
                <a:gridCol w="1005840"/>
                <a:gridCol w="100584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 (full)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ECE (full)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ECE (rejected)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pred.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LR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0.7479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0.0031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0.0057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Parcelling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0.7470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0.0047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0.0089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0.0854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0.7479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C5F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0.0027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0.0072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0.0033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0.0078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0.0795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 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45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852160" y="14173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the modest improvements?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852160" y="1783080"/>
            <a:ext cx="28346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approval filter uses the same observable features the model already sees — credit scores, DTI, age.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LR already extrapolates into the rejected region. The propensity model hits AUC 0.94 — selection is almost deterministic in features.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 has little room to add new information here. 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real lending with unobserved factors (officer judgment, fraud flags), the gap to close would be much larger.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recovered the true rejected-population default rate (13.31% vs 13.32% truth) without ever seeing a rejected outcome.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 ·  SURVIVAL ANALYSIS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Selection bias has a temporal signature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452360" y="201168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52360" y="20116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Aryan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45720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classification flattens time. A default in month 3 and a default in month 30 both get labeled 1 — but they're fundamentally different problems.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approval filter preferentially removes high-risk borrowers — and high-risk borrowers default </a:t>
            </a:r>
            <a:pPr indent="0" marL="0"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earlier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So the approved-only training set is systematically missing the fastest defaulters.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built a risk-modulated DGP so time-to-default depends on the same underwriting score that drives approval. This made the temporal bias measurable.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394960" y="1417320"/>
            <a:ext cx="3291840" cy="3246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577840" y="15087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time-to-default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577840" y="18288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 mo.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5577840" y="237744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defaulters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577840" y="27432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45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mo.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5577840" y="329184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 defaulters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577840" y="3657600"/>
            <a:ext cx="2926080" cy="3657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77840" y="37490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5-month gap </a:t>
            </a:r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temporal selection bias our survival models must recover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binary model cannot detect this distortion. Survival analysis makes it visible.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 ·  RESULTS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model wins on its own dimension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452360" y="201168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52360" y="20116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Aryan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4572000" cy="1828800"/>
        </p:xfrm>
        <a:graphic>
          <a:graphicData uri="http://schemas.openxmlformats.org/drawingml/2006/table">
            <a:tbl>
              <a:tblPr/>
              <a:tblGrid>
                <a:gridCol w="2377440"/>
                <a:gridCol w="1097280"/>
                <a:gridCol w="109728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C-Index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IBS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Cox Baseline (approved only)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0.6807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Cox + IPW reweighting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0.6799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45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0.0323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DeepHitSingle (neural)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C5F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0.6884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0.0554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3337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on a shared 2–36 month grid (pycox) so numbers are directly comparable.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257800" y="1463040"/>
            <a:ext cx="3429000" cy="105156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257800" y="1463040"/>
            <a:ext cx="73152" cy="1051560"/>
          </a:xfrm>
          <a:prstGeom prst="rect">
            <a:avLst/>
          </a:prstGeom>
          <a:solidFill>
            <a:srgbClr val="2C5F7C"/>
          </a:solidFill>
          <a:ln w="12700">
            <a:solidFill>
              <a:srgbClr val="2C5F7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22392" y="152704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C5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RANKING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949440" y="152704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DeepHit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422392" y="1810512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+0.0077 C-Index over Cox baseline (reproducible with seeded training). Use for adverse-selection scoring, portfolio optimization.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257800" y="2606040"/>
            <a:ext cx="3429000" cy="105156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257800" y="2606040"/>
            <a:ext cx="73152" cy="1051560"/>
          </a:xfrm>
          <a:prstGeom prst="rec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422392" y="267004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CALIBRATION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949440" y="267004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Cox + IPW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422392" y="2953512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IBS 0.0323 narrowly beats baseline 0.0324 — reject inference working as advertised. Use for provisioning, capital planning, regulatory reporting.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257800" y="3749040"/>
            <a:ext cx="3429000" cy="105156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257800" y="3749040"/>
            <a:ext cx="73152" cy="105156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422392" y="381304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TRADEOFF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6949440" y="381304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cost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422392" y="4096512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DeepHit's ranking loss sacrifices calibration (IBS 0.0554). No single 'best' model — a real bank should deploy both.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models for different banking workflows — not one winner, a portfolio of tools.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  ·  FAIRNESS &amp; REGULATORY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IPW corrects disparity exactly where selection caused it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452360" y="201168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52360" y="20116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Michael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5029200" cy="2103120"/>
        </p:xfrm>
        <a:graphic>
          <a:graphicData uri="http://schemas.openxmlformats.org/drawingml/2006/table">
            <a:tbl>
              <a:tblPr/>
              <a:tblGrid>
                <a:gridCol w="1737360"/>
                <a:gridCol w="1188720"/>
                <a:gridCol w="1097280"/>
                <a:gridCol w="100584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Demographic axis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ECE gap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IPW ECE gap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 (filter-driver)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0.0099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45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0.0054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45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−45%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Gender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0.0073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0.0077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+0.0004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Education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0.0188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0.0196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+0.0008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760720" y="1463040"/>
            <a:ext cx="2926080" cy="2103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760720" y="1463040"/>
            <a:ext cx="73152" cy="2103120"/>
          </a:xfrm>
          <a:prstGeom prst="rec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25312" y="1554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pattern?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925312" y="187452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was the strongest single input to the approval filter.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IPW corrects the one axis with real selection-induced distortion, and leaves axes without it alone — ideal behavior.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57200" y="3703320"/>
            <a:ext cx="822960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7200" y="3703320"/>
            <a:ext cx="73152" cy="8686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" y="3776472"/>
            <a:ext cx="7955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Caveat — </a:t>
            </a:r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threshold-based disparity is a separate problem. At a fixed decision threshold, IPW actually widens the FNR gap on age (0.42 → 0.46) because 60+ applicants' base rate already sits below the threshold. Segment-specific thresholds or fairness-aware training would be needed there.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regulatory reporting, this is the ideal behavior: a targeted correction, not a blunt adjustment.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PATTERN, FIVE TIMES OVER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Selection bias hurts calibration — </a:t>
            </a:r>
            <a:endParaRPr lang="en-US" sz="2400" dirty="0"/>
          </a:p>
          <a:p>
            <a:pPr indent="0" marL="0">
              <a:buNone/>
            </a:pPr>
            <a:r>
              <a:rPr lang="en-US" sz="24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concentrates where selection was strongest.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2103120"/>
            <a:ext cx="1558138" cy="1965960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2103120"/>
            <a:ext cx="1558138" cy="45720"/>
          </a:xfrm>
          <a:prstGeom prst="rec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2240280"/>
            <a:ext cx="13752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66928" y="2514600"/>
            <a:ext cx="13752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ECE tripled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66928" y="3246120"/>
            <a:ext cx="13752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barely moved across populations.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125066" y="2103120"/>
            <a:ext cx="1558138" cy="1965960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25066" y="2103120"/>
            <a:ext cx="1558138" cy="45720"/>
          </a:xfrm>
          <a:prstGeom prst="rec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34794" y="2240280"/>
            <a:ext cx="13752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234794" y="2514600"/>
            <a:ext cx="13752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 best calibration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234794" y="3246120"/>
            <a:ext cx="13752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 shifts probabilities; AUC unchanged.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792931" y="2103120"/>
            <a:ext cx="1558138" cy="1965960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792931" y="2103120"/>
            <a:ext cx="1558138" cy="45720"/>
          </a:xfrm>
          <a:prstGeom prst="rec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02659" y="2240280"/>
            <a:ext cx="13752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902659" y="2514600"/>
            <a:ext cx="13752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5-month gap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902659" y="3246120"/>
            <a:ext cx="13752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IPW recovers early-period hazard.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60797" y="2103120"/>
            <a:ext cx="1558138" cy="1965960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60797" y="2103120"/>
            <a:ext cx="1558138" cy="45720"/>
          </a:xfrm>
          <a:prstGeom prst="rec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70525" y="2240280"/>
            <a:ext cx="13752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570525" y="2514600"/>
            <a:ext cx="13752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Bias = robustness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570525" y="3246120"/>
            <a:ext cx="13752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LR's simplicity protects under shift.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128662" y="2103120"/>
            <a:ext cx="1558138" cy="1965960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28662" y="2103120"/>
            <a:ext cx="1558138" cy="45720"/>
          </a:xfrm>
          <a:prstGeom prst="rec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38390" y="2240280"/>
            <a:ext cx="13752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238390" y="2514600"/>
            <a:ext cx="13752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−45% age ECE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238390" y="3246120"/>
            <a:ext cx="13752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IPW fixes what selection distorted.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 isn't a better algorithm — it's knowing what the training data represents, </a:t>
            </a:r>
            <a:pPr indent="0" marL="0">
              <a:buNone/>
            </a:pPr>
            <a:r>
              <a:rPr lang="en-US" sz="1400" i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evaluating correction at the subgroup level.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Lacy Dove </a:t>
            </a:r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feature engineering and supplementary-table aggregation across the Home Credit data pipeline, which made everything above possible.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31520"/>
            <a:ext cx="1828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0" b="1" i="1" dirty="0">
                <a:solidFill>
                  <a:srgbClr val="E45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16000" dirty="0"/>
          </a:p>
        </p:txBody>
      </p:sp>
      <p:sp>
        <p:nvSpPr>
          <p:cNvPr id="3" name="Text 1"/>
          <p:cNvSpPr/>
          <p:nvPr/>
        </p:nvSpPr>
        <p:spPr>
          <a:xfrm>
            <a:off x="2560320" y="137160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Questions?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2560320" y="224028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We'd love to hear what didn't convince you.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566160"/>
            <a:ext cx="1097280" cy="45720"/>
          </a:xfrm>
          <a:prstGeom prst="rec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703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Harelle Keli  ·  Michael Beyer  ·  Aryan Sanan  ·  Lacy Dove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4023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Machine Learning · McCombs School of Business · UT Austin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Selection-Aware Credit Risk</dc:title>
  <dc:subject>PptxGenJS Presentation</dc:subject>
  <dc:creator>Dove, Beyer, Sanan, Keli</dc:creator>
  <cp:lastModifiedBy>Dove, Beyer, Sanan, Keli</cp:lastModifiedBy>
  <cp:revision>1</cp:revision>
  <dcterms:created xsi:type="dcterms:W3CDTF">2026-04-19T17:43:02Z</dcterms:created>
  <dcterms:modified xsi:type="dcterms:W3CDTF">2026-04-19T17:43:02Z</dcterms:modified>
</cp:coreProperties>
</file>